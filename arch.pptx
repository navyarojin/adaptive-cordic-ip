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3258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17739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2900" b="1">
                <a:solidFill>
                  <a:srgbClr val="20262D"/>
                </a:solidFill>
                <a:latin typeface="Arial"/>
              </a:defRPr>
            </a:pPr>
            <a:r>
              <a:t>Accelerator-only ASIC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17739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0262D"/>
                </a:solidFill>
                <a:latin typeface="Arial"/>
              </a:defRPr>
            </a:pPr>
            <a:r>
              <a:t>4 lanes   •   64 vectors / bank   •   Digital core: stream_mmio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7739360" cy="4251960"/>
          </a:xfrm>
          <a:prstGeom prst="rect">
            <a:avLst/>
          </a:prstGeom>
          <a:solidFill>
            <a:srgbClr val="FBFCFD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078992"/>
            <a:ext cx="174650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0262D"/>
                </a:solidFill>
                <a:latin typeface="Arial"/>
              </a:defRPr>
            </a:pPr>
            <a:r>
              <a:t>CORE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192024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673352"/>
            <a:ext cx="18470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700" b="0">
                <a:solidFill>
                  <a:srgbClr val="20262D"/>
                </a:solidFill>
                <a:latin typeface="Arial"/>
              </a:defRPr>
            </a:pPr>
            <a:r>
              <a:t>Host Ports</a:t>
            </a:r>
          </a:p>
          <a:p>
            <a:pPr algn="ctr">
              <a:spcAft>
                <a:spcPts val="0"/>
              </a:spcAft>
              <a:defRPr sz="1700" b="0">
                <a:solidFill>
                  <a:srgbClr val="20262D"/>
                </a:solidFill>
                <a:latin typeface="Arial"/>
              </a:defRPr>
            </a:pPr>
            <a:r>
              <a:t>32-bit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645920"/>
            <a:ext cx="201168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673352"/>
            <a:ext cx="193852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700" b="0">
                <a:solidFill>
                  <a:srgbClr val="20262D"/>
                </a:solidFill>
                <a:latin typeface="Arial"/>
              </a:defRPr>
            </a:pPr>
            <a:r>
              <a:t>MMIO</a:t>
            </a:r>
          </a:p>
          <a:p>
            <a:pPr algn="ctr">
              <a:spcAft>
                <a:spcPts val="0"/>
              </a:spcAft>
              <a:defRPr sz="1700" b="0">
                <a:solidFill>
                  <a:srgbClr val="20262D"/>
                </a:solidFill>
                <a:latin typeface="Arial"/>
              </a:defRPr>
            </a:pPr>
            <a:r>
              <a:t>Decoder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645920"/>
            <a:ext cx="278892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11496" y="1673352"/>
            <a:ext cx="27157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0262D"/>
                </a:solidFill>
                <a:latin typeface="Arial"/>
              </a:defRPr>
            </a:pPr>
            <a:r>
              <a:t>Configuration</a:t>
            </a:r>
          </a:p>
          <a:p>
            <a:pPr algn="ctr">
              <a:spcAft>
                <a:spcPts val="0"/>
              </a:spcAft>
              <a:defRPr sz="1600" b="0">
                <a:solidFill>
                  <a:srgbClr val="20262D"/>
                </a:solidFill>
                <a:latin typeface="Arial"/>
              </a:defRPr>
            </a:pPr>
            <a:r>
              <a:t>W1/B1 • W2/B2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5184648" y="2267712"/>
            <a:ext cx="100584" cy="109728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85232" y="2267712"/>
            <a:ext cx="100584" cy="109728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183879" y="1645920"/>
            <a:ext cx="1874519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5" y="1673352"/>
            <a:ext cx="1801367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0262D"/>
                </a:solidFill>
                <a:latin typeface="Arial"/>
              </a:defRPr>
            </a:pPr>
            <a:r>
              <a:t>Command FIFO</a:t>
            </a:r>
          </a:p>
          <a:p>
            <a:pPr algn="ctr">
              <a:spcAft>
                <a:spcPts val="0"/>
              </a:spcAft>
              <a:defRPr sz="1600" b="0">
                <a:solidFill>
                  <a:srgbClr val="20262D"/>
                </a:solidFill>
                <a:latin typeface="Arial"/>
              </a:defRPr>
            </a:pPr>
            <a:r>
              <a:t>4 entries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78440" y="1645920"/>
            <a:ext cx="274320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5015" y="1673352"/>
            <a:ext cx="267004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0262D"/>
                </a:solidFill>
                <a:latin typeface="Arial"/>
              </a:defRPr>
            </a:pPr>
            <a:r>
              <a:t>Job FSM</a:t>
            </a:r>
          </a:p>
          <a:p>
            <a:pPr algn="ctr">
              <a:spcAft>
                <a:spcPts val="0"/>
              </a:spcAft>
              <a:defRPr sz="1600" b="0">
                <a:solidFill>
                  <a:srgbClr val="20262D"/>
                </a:solidFill>
                <a:latin typeface="Arial"/>
              </a:defRPr>
            </a:pPr>
            <a:r>
              <a:t>Bank • Layer • Tag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441680" y="1645920"/>
            <a:ext cx="228600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478255" y="1673352"/>
            <a:ext cx="221284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0262D"/>
                </a:solidFill>
                <a:latin typeface="Arial"/>
              </a:defRPr>
            </a:pPr>
            <a:r>
              <a:t>Status / Counters</a:t>
            </a:r>
          </a:p>
          <a:p>
            <a:pPr algn="ctr">
              <a:spcAft>
                <a:spcPts val="0"/>
              </a:spcAft>
              <a:defRPr sz="1600" b="0">
                <a:solidFill>
                  <a:srgbClr val="20262D"/>
                </a:solidFill>
                <a:latin typeface="Arial"/>
              </a:defRPr>
            </a:pPr>
            <a:r>
              <a:t>Done • Error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3551407" y="2267712"/>
            <a:ext cx="100585" cy="109728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3651992" y="2267712"/>
            <a:ext cx="100584" cy="109728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6139159" y="1645920"/>
            <a:ext cx="141732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175735" y="1673352"/>
            <a:ext cx="13441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0262D"/>
                </a:solidFill>
                <a:latin typeface="Arial"/>
              </a:defRPr>
            </a:pPr>
            <a:r>
              <a:t>≥1</a:t>
            </a:r>
          </a:p>
          <a:p>
            <a:pPr algn="ctr">
              <a:spcAft>
                <a:spcPts val="0"/>
              </a:spcAft>
              <a:defRPr sz="1600" b="0">
                <a:solidFill>
                  <a:srgbClr val="20262D"/>
                </a:solidFill>
                <a:latin typeface="Arial"/>
              </a:defRPr>
            </a:pPr>
            <a:r>
              <a:t>IRQ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23160" y="2011680"/>
            <a:ext cx="320040" cy="0"/>
          </a:xfrm>
          <a:prstGeom prst="line">
            <a:avLst/>
          </a:prstGeom>
          <a:ln w="12700">
            <a:solidFill>
              <a:srgbClr val="245B99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54880" y="2011680"/>
            <a:ext cx="320040" cy="0"/>
          </a:xfrm>
          <a:prstGeom prst="line">
            <a:avLst/>
          </a:prstGeom>
          <a:ln w="12700">
            <a:solidFill>
              <a:srgbClr val="245B99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63840" y="2011680"/>
            <a:ext cx="320039" cy="0"/>
          </a:xfrm>
          <a:prstGeom prst="line">
            <a:avLst/>
          </a:prstGeom>
          <a:ln w="12700">
            <a:solidFill>
              <a:srgbClr val="245B99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058400" y="2011680"/>
            <a:ext cx="320040" cy="0"/>
          </a:xfrm>
          <a:prstGeom prst="line">
            <a:avLst/>
          </a:prstGeom>
          <a:ln w="12700">
            <a:solidFill>
              <a:srgbClr val="245B99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3121640" y="2011680"/>
            <a:ext cx="320040" cy="0"/>
          </a:xfrm>
          <a:prstGeom prst="line">
            <a:avLst/>
          </a:prstGeom>
          <a:ln w="12700">
            <a:solidFill>
              <a:srgbClr val="245B99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5727680" y="2011680"/>
            <a:ext cx="411479" cy="0"/>
          </a:xfrm>
          <a:prstGeom prst="line">
            <a:avLst/>
          </a:prstGeom>
          <a:ln w="12700">
            <a:solidFill>
              <a:srgbClr val="245B99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5956280" y="2404872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45B99"/>
                </a:solidFill>
                <a:latin typeface="Arial"/>
              </a:defRPr>
            </a:pPr>
            <a:r>
              <a:t>done[1:0]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108960"/>
            <a:ext cx="2057400" cy="914400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3136391"/>
            <a:ext cx="1984248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20262D"/>
                </a:solidFill>
                <a:latin typeface="Arial"/>
              </a:defRPr>
            </a:pPr>
            <a:r>
              <a:t>Input RAM A/B</a:t>
            </a:r>
          </a:p>
          <a:p>
            <a:pPr algn="ctr">
              <a:spcAft>
                <a:spcPts val="0"/>
              </a:spcAft>
              <a:defRPr sz="1500" b="0">
                <a:solidFill>
                  <a:srgbClr val="20262D"/>
                </a:solidFill>
                <a:latin typeface="Arial"/>
              </a:defRPr>
            </a:pPr>
            <a:r>
              <a:t>2 × 64 × 4 × 32</a:t>
            </a:r>
          </a:p>
        </p:txBody>
      </p:sp>
      <p:sp>
        <p:nvSpPr>
          <p:cNvPr id="33" name="Freeform 32"/>
          <p:cNvSpPr/>
          <p:nvPr/>
        </p:nvSpPr>
        <p:spPr>
          <a:xfrm>
            <a:off x="2926080" y="3154680"/>
            <a:ext cx="822960" cy="822960"/>
          </a:xfrm>
          <a:custGeom>
            <a:avLst/>
            <a:gdLst/>
            <a:ahLst/>
            <a:cxnLst/>
            <a:rect l="l" t="t" r="r" b="b"/>
            <a:pathLst>
              <a:path w="822960" h="822960">
                <a:moveTo>
                  <a:pt x="0" y="0"/>
                </a:moveTo>
                <a:lnTo>
                  <a:pt x="822960" y="148133"/>
                </a:lnTo>
                <a:lnTo>
                  <a:pt x="822960" y="674827"/>
                </a:lnTo>
                <a:lnTo>
                  <a:pt x="0" y="822960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62656" y="3182112"/>
            <a:ext cx="749808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20262D"/>
                </a:solidFill>
                <a:latin typeface="Arial"/>
              </a:defRPr>
            </a:pPr>
            <a:r>
              <a:t>MUX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0520" y="3108960"/>
            <a:ext cx="2788920" cy="914400"/>
          </a:xfrm>
          <a:prstGeom prst="rect">
            <a:avLst/>
          </a:prstGeom>
          <a:solidFill>
            <a:srgbClr val="FFFFFF"/>
          </a:solidFill>
          <a:ln w="11430">
            <a:solidFill>
              <a:srgbClr val="A3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97096" y="3136391"/>
            <a:ext cx="2715768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20262D"/>
                </a:solidFill>
                <a:latin typeface="Arial"/>
              </a:defRPr>
            </a:pPr>
            <a:r>
              <a:t>MAC Unit ×4</a:t>
            </a:r>
          </a:p>
          <a:p>
            <a:pPr algn="ctr">
              <a:spcAft>
                <a:spcPts val="0"/>
              </a:spcAft>
              <a:defRPr sz="1800" b="0">
                <a:solidFill>
                  <a:srgbClr val="20262D"/>
                </a:solidFill>
                <a:latin typeface="Arial"/>
              </a:defRPr>
            </a:pPr>
            <a:r>
              <a:t>INT8 dot products</a:t>
            </a:r>
          </a:p>
        </p:txBody>
      </p:sp>
      <p:sp>
        <p:nvSpPr>
          <p:cNvPr id="37" name="Freeform 36"/>
          <p:cNvSpPr/>
          <p:nvPr/>
        </p:nvSpPr>
        <p:spPr>
          <a:xfrm>
            <a:off x="7452360" y="3154680"/>
            <a:ext cx="822960" cy="822960"/>
          </a:xfrm>
          <a:custGeom>
            <a:avLst/>
            <a:gdLst/>
            <a:ahLst/>
            <a:cxnLst/>
            <a:rect l="l" t="t" r="r" b="b"/>
            <a:pathLst>
              <a:path w="822960" h="822960">
                <a:moveTo>
                  <a:pt x="0" y="0"/>
                </a:moveTo>
                <a:lnTo>
                  <a:pt x="822960" y="148133"/>
                </a:lnTo>
                <a:lnTo>
                  <a:pt x="822960" y="674827"/>
                </a:lnTo>
                <a:lnTo>
                  <a:pt x="0" y="822960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88936" y="3182112"/>
            <a:ext cx="749808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20262D"/>
                </a:solidFill>
                <a:latin typeface="Arial"/>
              </a:defRPr>
            </a:pPr>
            <a:r>
              <a:t>MUX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0" y="3108960"/>
            <a:ext cx="3108960" cy="914400"/>
          </a:xfrm>
          <a:prstGeom prst="rect">
            <a:avLst/>
          </a:prstGeom>
          <a:solidFill>
            <a:srgbClr val="FFFFFF"/>
          </a:solidFill>
          <a:ln w="11430">
            <a:solidFill>
              <a:srgbClr val="24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14815" y="3136391"/>
            <a:ext cx="3035808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700" b="0">
                <a:solidFill>
                  <a:srgbClr val="20262D"/>
                </a:solidFill>
                <a:latin typeface="Arial"/>
              </a:defRPr>
            </a:pPr>
            <a:r>
              <a:t>Adaptive Activation</a:t>
            </a:r>
          </a:p>
          <a:p>
            <a:pPr algn="ctr">
              <a:spcAft>
                <a:spcPts val="0"/>
              </a:spcAft>
              <a:defRPr sz="1700" b="0">
                <a:solidFill>
                  <a:srgbClr val="20262D"/>
                </a:solidFill>
                <a:latin typeface="Arial"/>
              </a:defRPr>
            </a:pPr>
            <a:r>
              <a:t>4 lanes + 1 reference</a:t>
            </a:r>
          </a:p>
        </p:txBody>
      </p:sp>
      <p:sp>
        <p:nvSpPr>
          <p:cNvPr id="41" name="Freeform 40"/>
          <p:cNvSpPr/>
          <p:nvPr/>
        </p:nvSpPr>
        <p:spPr>
          <a:xfrm>
            <a:off x="12390120" y="3154680"/>
            <a:ext cx="1005840" cy="822960"/>
          </a:xfrm>
          <a:custGeom>
            <a:avLst/>
            <a:gdLst/>
            <a:ahLst/>
            <a:cxnLst/>
            <a:rect l="l" t="t" r="r" b="b"/>
            <a:pathLst>
              <a:path w="1005840" h="822960">
                <a:moveTo>
                  <a:pt x="0" y="148133"/>
                </a:moveTo>
                <a:lnTo>
                  <a:pt x="1005840" y="0"/>
                </a:lnTo>
                <a:lnTo>
                  <a:pt x="1005840" y="822960"/>
                </a:lnTo>
                <a:lnTo>
                  <a:pt x="0" y="674827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426696" y="3182112"/>
            <a:ext cx="932688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20262D"/>
                </a:solidFill>
                <a:latin typeface="Arial"/>
              </a:defRPr>
            </a:pPr>
            <a:r>
              <a:t>Route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990320" y="3108960"/>
            <a:ext cx="3566160" cy="914400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026896" y="3136391"/>
            <a:ext cx="3493008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0262D"/>
                </a:solidFill>
                <a:latin typeface="Arial"/>
              </a:defRPr>
            </a:pPr>
            <a:r>
              <a:t>Result RAM A/B</a:t>
            </a:r>
          </a:p>
          <a:p>
            <a:pPr algn="ctr">
              <a:spcAft>
                <a:spcPts val="0"/>
              </a:spcAft>
              <a:defRPr sz="1600" b="0">
                <a:solidFill>
                  <a:srgbClr val="20262D"/>
                </a:solidFill>
                <a:latin typeface="Arial"/>
              </a:defRPr>
            </a:pPr>
            <a:r>
              <a:t>2 × 64 × 4 × 32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560320" y="3566160"/>
            <a:ext cx="365760" cy="0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749039" y="3566160"/>
            <a:ext cx="411481" cy="0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949440" y="3566160"/>
            <a:ext cx="502920" cy="0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275320" y="3566160"/>
            <a:ext cx="502920" cy="0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887200" y="3566160"/>
            <a:ext cx="502920" cy="0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3395960" y="3566160"/>
            <a:ext cx="594360" cy="0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2920" y="4059936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20262D"/>
                </a:solidFill>
                <a:latin typeface="Arial"/>
              </a:defRPr>
            </a:pPr>
            <a:r>
              <a:t>Bank / Hidden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4059936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20262D"/>
                </a:solidFill>
                <a:latin typeface="Arial"/>
              </a:defRPr>
            </a:pPr>
            <a:r>
              <a:t>MAC / Direct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2286000" y="2770632"/>
            <a:ext cx="0" cy="338328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286000" y="2770632"/>
            <a:ext cx="5577840" cy="0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863840" y="2770632"/>
            <a:ext cx="0" cy="384048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389120" y="251460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20262D"/>
                </a:solidFill>
                <a:latin typeface="Arial"/>
              </a:defRPr>
            </a:pPr>
            <a:r>
              <a:t>Direct: 4 × 19-bit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92640" y="4526280"/>
            <a:ext cx="41148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29215" y="4553712"/>
            <a:ext cx="40416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20262D"/>
                </a:solidFill>
                <a:latin typeface="Arial"/>
              </a:defRPr>
            </a:pPr>
            <a:r>
              <a:t>Q14 → Q7  /  Clamp  /  Hidden RAM 64 × 32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2893040" y="3977639"/>
            <a:ext cx="0" cy="548641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3337560" y="4754880"/>
            <a:ext cx="6355080" cy="0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337560" y="3977639"/>
            <a:ext cx="0" cy="777241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572000" y="481888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20262D"/>
                </a:solidFill>
                <a:latin typeface="Arial"/>
              </a:defRPr>
            </a:pPr>
            <a:r>
              <a:t>Layer 1: tanh    Layer 2: sigmoid    Fixed-14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081760" y="406908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20262D"/>
                </a:solidFill>
                <a:latin typeface="Arial"/>
              </a:defRPr>
            </a:pPr>
            <a:r>
              <a:t>16-bit results, sign-extended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5577840"/>
            <a:ext cx="8595360" cy="6263640"/>
          </a:xfrm>
          <a:prstGeom prst="rect">
            <a:avLst/>
          </a:prstGeom>
          <a:solidFill>
            <a:srgbClr val="FBFCFD"/>
          </a:solidFill>
          <a:ln w="11430">
            <a:solidFill>
              <a:srgbClr val="A3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79" y="5650992"/>
            <a:ext cx="8321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0262D"/>
                </a:solidFill>
                <a:latin typeface="Arial"/>
              </a:defRPr>
            </a:pPr>
            <a:r>
              <a:t>MAC DETAIL: ONE OUTPUT LANE ×4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053328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20262D"/>
                </a:solidFill>
                <a:latin typeface="Arial"/>
              </a:defRPr>
            </a:pPr>
            <a:r>
              <a:t>16 signed multipliers total • 4 pipeline stages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6528816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20262D"/>
                </a:solidFill>
                <a:latin typeface="Arial"/>
              </a:defRPr>
            </a:pPr>
            <a:r>
              <a:t>x0 × w0</a:t>
            </a:r>
          </a:p>
          <a:p>
            <a:pPr algn="ctr">
              <a:spcAft>
                <a:spcPts val="0"/>
              </a:spcAft>
              <a:defRPr sz="1500" b="0">
                <a:solidFill>
                  <a:srgbClr val="20262D"/>
                </a:solidFill>
                <a:latin typeface="Arial"/>
              </a:defRPr>
            </a:pPr>
            <a:r>
              <a:t>8-bit × 8-bit</a:t>
            </a:r>
          </a:p>
        </p:txBody>
      </p:sp>
      <p:sp>
        <p:nvSpPr>
          <p:cNvPr id="68" name="Oval 67"/>
          <p:cNvSpPr/>
          <p:nvPr/>
        </p:nvSpPr>
        <p:spPr>
          <a:xfrm>
            <a:off x="1005840" y="7269480"/>
            <a:ext cx="594360" cy="59436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42416" y="7296912"/>
            <a:ext cx="521208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2600" b="0">
                <a:solidFill>
                  <a:srgbClr val="20262D"/>
                </a:solidFill>
                <a:latin typeface="Arial"/>
              </a:defRPr>
            </a:pPr>
            <a:r>
              <a:t>×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303019" y="7086600"/>
            <a:ext cx="0" cy="182880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2606040" y="6528816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20262D"/>
                </a:solidFill>
                <a:latin typeface="Arial"/>
              </a:defRPr>
            </a:pPr>
            <a:r>
              <a:t>x1 × w1</a:t>
            </a:r>
          </a:p>
          <a:p>
            <a:pPr algn="ctr">
              <a:spcAft>
                <a:spcPts val="0"/>
              </a:spcAft>
              <a:defRPr sz="1500" b="0">
                <a:solidFill>
                  <a:srgbClr val="20262D"/>
                </a:solidFill>
                <a:latin typeface="Arial"/>
              </a:defRPr>
            </a:pPr>
            <a:r>
              <a:t>8-bit × 8-bit</a:t>
            </a:r>
          </a:p>
        </p:txBody>
      </p:sp>
      <p:sp>
        <p:nvSpPr>
          <p:cNvPr id="72" name="Oval 71"/>
          <p:cNvSpPr/>
          <p:nvPr/>
        </p:nvSpPr>
        <p:spPr>
          <a:xfrm>
            <a:off x="2971800" y="7269480"/>
            <a:ext cx="594360" cy="59436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08376" y="7296912"/>
            <a:ext cx="521208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2600" b="0">
                <a:solidFill>
                  <a:srgbClr val="20262D"/>
                </a:solidFill>
                <a:latin typeface="Arial"/>
              </a:defRPr>
            </a:pPr>
            <a:r>
              <a:t>×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3268980" y="7086600"/>
            <a:ext cx="0" cy="182880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4572000" y="6528816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20262D"/>
                </a:solidFill>
                <a:latin typeface="Arial"/>
              </a:defRPr>
            </a:pPr>
            <a:r>
              <a:t>x2 × w2</a:t>
            </a:r>
          </a:p>
          <a:p>
            <a:pPr algn="ctr">
              <a:spcAft>
                <a:spcPts val="0"/>
              </a:spcAft>
              <a:defRPr sz="1500" b="0">
                <a:solidFill>
                  <a:srgbClr val="20262D"/>
                </a:solidFill>
                <a:latin typeface="Arial"/>
              </a:defRPr>
            </a:pPr>
            <a:r>
              <a:t>8-bit × 8-bit</a:t>
            </a:r>
          </a:p>
        </p:txBody>
      </p:sp>
      <p:sp>
        <p:nvSpPr>
          <p:cNvPr id="76" name="Oval 75"/>
          <p:cNvSpPr/>
          <p:nvPr/>
        </p:nvSpPr>
        <p:spPr>
          <a:xfrm>
            <a:off x="4937760" y="7269480"/>
            <a:ext cx="594360" cy="59436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974336" y="7296912"/>
            <a:ext cx="521208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2600" b="0">
                <a:solidFill>
                  <a:srgbClr val="20262D"/>
                </a:solidFill>
                <a:latin typeface="Arial"/>
              </a:defRPr>
            </a:pPr>
            <a:r>
              <a:t>×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5234940" y="7086600"/>
            <a:ext cx="0" cy="182880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537959" y="6528816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20262D"/>
                </a:solidFill>
                <a:latin typeface="Arial"/>
              </a:defRPr>
            </a:pPr>
            <a:r>
              <a:t>x3 × w3</a:t>
            </a:r>
          </a:p>
          <a:p>
            <a:pPr algn="ctr">
              <a:spcAft>
                <a:spcPts val="0"/>
              </a:spcAft>
              <a:defRPr sz="1500" b="0">
                <a:solidFill>
                  <a:srgbClr val="20262D"/>
                </a:solidFill>
                <a:latin typeface="Arial"/>
              </a:defRPr>
            </a:pPr>
            <a:r>
              <a:t>8-bit × 8-bit</a:t>
            </a:r>
          </a:p>
        </p:txBody>
      </p:sp>
      <p:sp>
        <p:nvSpPr>
          <p:cNvPr id="80" name="Oval 79"/>
          <p:cNvSpPr/>
          <p:nvPr/>
        </p:nvSpPr>
        <p:spPr>
          <a:xfrm>
            <a:off x="6903720" y="7269480"/>
            <a:ext cx="594360" cy="59436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940296" y="7296912"/>
            <a:ext cx="521208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2600" b="0">
                <a:solidFill>
                  <a:srgbClr val="20262D"/>
                </a:solidFill>
                <a:latin typeface="Arial"/>
              </a:defRPr>
            </a:pPr>
            <a:r>
              <a:t>×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200900" y="7086600"/>
            <a:ext cx="0" cy="182880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731520" y="8074152"/>
            <a:ext cx="7680960" cy="365760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68096" y="8101583"/>
            <a:ext cx="76078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20262D"/>
                </a:solidFill>
                <a:latin typeface="Arial"/>
              </a:defRPr>
            </a:pPr>
            <a:r>
              <a:t>Product registers: 4 × 16-bit</a:t>
            </a:r>
          </a:p>
        </p:txBody>
      </p:sp>
      <p:cxnSp>
        <p:nvCxnSpPr>
          <p:cNvPr id="85" name="Connector 84"/>
          <p:cNvCxnSpPr/>
          <p:nvPr/>
        </p:nvCxnSpPr>
        <p:spPr>
          <a:xfrm flipV="1">
            <a:off x="841248" y="8330184"/>
            <a:ext cx="100584" cy="109728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41832" y="8330184"/>
            <a:ext cx="100584" cy="109728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303019" y="7863840"/>
            <a:ext cx="0" cy="210312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3268980" y="7863840"/>
            <a:ext cx="0" cy="210312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34940" y="7863840"/>
            <a:ext cx="0" cy="210312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200900" y="7863840"/>
            <a:ext cx="0" cy="210312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2011680" y="8823960"/>
            <a:ext cx="594360" cy="59436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048256" y="8851392"/>
            <a:ext cx="521208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2500" b="0">
                <a:solidFill>
                  <a:srgbClr val="20262D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93" name="Oval 92"/>
          <p:cNvSpPr/>
          <p:nvPr/>
        </p:nvSpPr>
        <p:spPr>
          <a:xfrm>
            <a:off x="5669280" y="8823960"/>
            <a:ext cx="594360" cy="59436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705856" y="8851392"/>
            <a:ext cx="521208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2500" b="0">
                <a:solidFill>
                  <a:srgbClr val="20262D"/>
                </a:solidFill>
                <a:latin typeface="Arial"/>
              </a:defRPr>
            </a:pPr>
            <a:r>
              <a:t>+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2308860" y="8439912"/>
            <a:ext cx="0" cy="384048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5966460" y="8439912"/>
            <a:ext cx="0" cy="384048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1463040" y="9601200"/>
            <a:ext cx="5349240" cy="365760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499616" y="9628632"/>
            <a:ext cx="527608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20262D"/>
                </a:solidFill>
                <a:latin typeface="Arial"/>
              </a:defRPr>
            </a:pPr>
            <a:r>
              <a:t>Pair registers: 2 × 17-bit</a:t>
            </a:r>
          </a:p>
        </p:txBody>
      </p:sp>
      <p:cxnSp>
        <p:nvCxnSpPr>
          <p:cNvPr id="99" name="Connector 98"/>
          <p:cNvCxnSpPr/>
          <p:nvPr/>
        </p:nvCxnSpPr>
        <p:spPr>
          <a:xfrm flipV="1">
            <a:off x="1572768" y="9857232"/>
            <a:ext cx="100584" cy="109728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1673352" y="9857232"/>
            <a:ext cx="100584" cy="109728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2308860" y="9418320"/>
            <a:ext cx="0" cy="182880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5966460" y="9418320"/>
            <a:ext cx="0" cy="182880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2926080" y="10287000"/>
            <a:ext cx="594360" cy="59436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962656" y="10314432"/>
            <a:ext cx="521208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2500" b="0">
                <a:solidFill>
                  <a:srgbClr val="20262D"/>
                </a:solidFill>
                <a:latin typeface="Arial"/>
              </a:defRPr>
            </a:pPr>
            <a:r>
              <a:t>+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3223260" y="9966960"/>
            <a:ext cx="0" cy="320040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85800" y="103327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20262D"/>
                </a:solidFill>
                <a:latin typeface="Arial"/>
              </a:defRPr>
            </a:pPr>
            <a:r>
              <a:t>Bias</a:t>
            </a:r>
          </a:p>
          <a:p>
            <a:pPr algn="ctr">
              <a:spcAft>
                <a:spcPts val="0"/>
              </a:spcAft>
              <a:defRPr sz="1500" b="0">
                <a:solidFill>
                  <a:srgbClr val="20262D"/>
                </a:solidFill>
                <a:latin typeface="Arial"/>
              </a:defRPr>
            </a:pPr>
            <a:r>
              <a:t>32-bit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2148840" y="10579608"/>
            <a:ext cx="777240" cy="0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4023360" y="10259568"/>
            <a:ext cx="1371600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059936" y="10287000"/>
            <a:ext cx="1298448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20262D"/>
                </a:solidFill>
                <a:latin typeface="Arial"/>
              </a:defRPr>
            </a:pPr>
            <a:r>
              <a:t>Sum</a:t>
            </a:r>
          </a:p>
          <a:p>
            <a:pPr algn="ctr">
              <a:spcAft>
                <a:spcPts val="0"/>
              </a:spcAft>
              <a:defRPr sz="1500" b="0">
                <a:solidFill>
                  <a:srgbClr val="20262D"/>
                </a:solidFill>
                <a:latin typeface="Arial"/>
              </a:defRPr>
            </a:pPr>
            <a:r>
              <a:t>34-bit</a:t>
            </a:r>
          </a:p>
        </p:txBody>
      </p:sp>
      <p:cxnSp>
        <p:nvCxnSpPr>
          <p:cNvPr id="110" name="Connector 109"/>
          <p:cNvCxnSpPr/>
          <p:nvPr/>
        </p:nvCxnSpPr>
        <p:spPr>
          <a:xfrm flipV="1">
            <a:off x="4133088" y="10789920"/>
            <a:ext cx="100584" cy="109728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4233672" y="10789920"/>
            <a:ext cx="100584" cy="109728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520440" y="10579608"/>
            <a:ext cx="502920" cy="0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2"/>
          <p:cNvSpPr/>
          <p:nvPr/>
        </p:nvSpPr>
        <p:spPr>
          <a:xfrm>
            <a:off x="5943600" y="10259568"/>
            <a:ext cx="2331720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980176" y="10287000"/>
            <a:ext cx="2258568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20262D"/>
                </a:solidFill>
                <a:latin typeface="Arial"/>
              </a:defRPr>
            </a:pPr>
            <a:r>
              <a:t>Round / Shift</a:t>
            </a:r>
          </a:p>
          <a:p>
            <a:pPr algn="ctr">
              <a:spcAft>
                <a:spcPts val="0"/>
              </a:spcAft>
              <a:defRPr sz="1500" b="0">
                <a:solidFill>
                  <a:srgbClr val="20262D"/>
                </a:solidFill>
                <a:latin typeface="Arial"/>
              </a:defRPr>
            </a:pPr>
            <a:r>
              <a:t>19-bit Clamp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5394960" y="10579608"/>
            <a:ext cx="548640" cy="0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731520" y="1120140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20262D"/>
                </a:solidFill>
                <a:latin typeface="Arial"/>
              </a:defRPr>
            </a:pPr>
            <a:r>
              <a:t>II = 1 when unstalled     •     Bias / shift / tag pipeline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189720" y="5577840"/>
            <a:ext cx="8823960" cy="6263640"/>
          </a:xfrm>
          <a:prstGeom prst="rect">
            <a:avLst/>
          </a:prstGeom>
          <a:solidFill>
            <a:srgbClr val="FBFCFD"/>
          </a:solidFill>
          <a:ln w="11430">
            <a:solidFill>
              <a:srgbClr val="24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326880" y="5650992"/>
            <a:ext cx="8549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0262D"/>
                </a:solidFill>
                <a:latin typeface="Arial"/>
              </a:defRPr>
            </a:pPr>
            <a:r>
              <a:t>ACTIVATION DETAIL: EARLY ×4 / SHARED FULL ×1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464040" y="6263640"/>
            <a:ext cx="3291840" cy="548640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500615" y="6291072"/>
            <a:ext cx="321868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20262D"/>
                </a:solidFill>
                <a:latin typeface="Arial"/>
              </a:defRPr>
            </a:pPr>
            <a:r>
              <a:t>Magnitude bin / Iteration LUT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4036040" y="6263640"/>
            <a:ext cx="3703320" cy="548640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4072615" y="6291072"/>
            <a:ext cx="363016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20262D"/>
                </a:solidFill>
                <a:latin typeface="Arial"/>
              </a:defRPr>
            </a:pPr>
            <a:r>
              <a:t>Sample mask / Lane MUX 0–3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1109960" y="6812280"/>
            <a:ext cx="0" cy="320040"/>
          </a:xfrm>
          <a:prstGeom prst="line">
            <a:avLst/>
          </a:prstGeom>
          <a:ln w="12700">
            <a:solidFill>
              <a:srgbClr val="245B99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5864840" y="6812280"/>
            <a:ext cx="0" cy="320040"/>
          </a:xfrm>
          <a:prstGeom prst="line">
            <a:avLst/>
          </a:prstGeom>
          <a:ln w="12700">
            <a:solidFill>
              <a:srgbClr val="245B99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9464040" y="7132320"/>
            <a:ext cx="3291840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500615" y="7159752"/>
            <a:ext cx="3218688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0262D"/>
                </a:solidFill>
                <a:latin typeface="Arial"/>
              </a:defRPr>
            </a:pPr>
            <a:r>
              <a:t>Early CORDIC ×4</a:t>
            </a:r>
          </a:p>
          <a:p>
            <a:pPr algn="ctr">
              <a:spcAft>
                <a:spcPts val="0"/>
              </a:spcAft>
              <a:defRPr sz="1600" b="0">
                <a:solidFill>
                  <a:srgbClr val="20262D"/>
                </a:solidFill>
                <a:latin typeface="Arial"/>
              </a:defRPr>
            </a:pPr>
            <a:r>
              <a:t>Budget iterations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4036040" y="7132320"/>
            <a:ext cx="3703320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4072615" y="7159752"/>
            <a:ext cx="3630168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0262D"/>
                </a:solidFill>
                <a:latin typeface="Arial"/>
              </a:defRPr>
            </a:pPr>
            <a:r>
              <a:t>Shared CORDIC ×1</a:t>
            </a:r>
          </a:p>
          <a:p>
            <a:pPr algn="ctr">
              <a:spcAft>
                <a:spcPts val="0"/>
              </a:spcAft>
              <a:defRPr sz="1600" b="0">
                <a:solidFill>
                  <a:srgbClr val="20262D"/>
                </a:solidFill>
                <a:latin typeface="Arial"/>
              </a:defRPr>
            </a:pPr>
            <a:r>
              <a:t>Full iterations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464040" y="8183879"/>
            <a:ext cx="2057400" cy="594360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500615" y="8211311"/>
            <a:ext cx="1984248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20262D"/>
                </a:solidFill>
                <a:latin typeface="Arial"/>
              </a:defRPr>
            </a:pPr>
            <a:r>
              <a:t>Early / Tag</a:t>
            </a:r>
          </a:p>
        </p:txBody>
      </p:sp>
      <p:cxnSp>
        <p:nvCxnSpPr>
          <p:cNvPr id="131" name="Connector 130"/>
          <p:cNvCxnSpPr/>
          <p:nvPr/>
        </p:nvCxnSpPr>
        <p:spPr>
          <a:xfrm flipV="1">
            <a:off x="9573767" y="8668512"/>
            <a:ext cx="100585" cy="109728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9674352" y="8668512"/>
            <a:ext cx="100584" cy="109728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15681959" y="8183879"/>
            <a:ext cx="2057400" cy="594360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5718535" y="8211311"/>
            <a:ext cx="1984248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20262D"/>
                </a:solidFill>
                <a:latin typeface="Arial"/>
              </a:defRPr>
            </a:pPr>
            <a:r>
              <a:t>Full / Lane tag</a:t>
            </a:r>
          </a:p>
        </p:txBody>
      </p:sp>
      <p:cxnSp>
        <p:nvCxnSpPr>
          <p:cNvPr id="135" name="Connector 134"/>
          <p:cNvCxnSpPr/>
          <p:nvPr/>
        </p:nvCxnSpPr>
        <p:spPr>
          <a:xfrm flipV="1">
            <a:off x="15791688" y="8668512"/>
            <a:ext cx="100584" cy="109728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5892272" y="8668512"/>
            <a:ext cx="100583" cy="109728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0497312" y="7772400"/>
            <a:ext cx="0" cy="411479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6706088" y="7772400"/>
            <a:ext cx="0" cy="411479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/>
          <p:cNvSpPr/>
          <p:nvPr/>
        </p:nvSpPr>
        <p:spPr>
          <a:xfrm>
            <a:off x="12161520" y="8183879"/>
            <a:ext cx="2880360" cy="594360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2198096" y="8211311"/>
            <a:ext cx="2807208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700" b="0">
                <a:solidFill>
                  <a:srgbClr val="20262D"/>
                </a:solidFill>
                <a:latin typeface="Arial"/>
              </a:defRPr>
            </a:pPr>
            <a:r>
              <a:t>|Early − Full| &gt; T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11521440" y="8476488"/>
            <a:ext cx="640080" cy="0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H="1">
            <a:off x="15041880" y="8476488"/>
            <a:ext cx="640079" cy="0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tangle 142"/>
          <p:cNvSpPr/>
          <p:nvPr/>
        </p:nvSpPr>
        <p:spPr>
          <a:xfrm>
            <a:off x="12847320" y="9235440"/>
            <a:ext cx="594360" cy="594360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2883896" y="9262872"/>
            <a:ext cx="521208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2300" b="0">
                <a:solidFill>
                  <a:srgbClr val="20262D"/>
                </a:solidFill>
                <a:latin typeface="Arial"/>
              </a:defRPr>
            </a:pPr>
            <a:r>
              <a:t>&amp;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13144500" y="8778240"/>
            <a:ext cx="0" cy="457200"/>
          </a:xfrm>
          <a:prstGeom prst="line">
            <a:avLst/>
          </a:prstGeom>
          <a:ln w="12700">
            <a:solidFill>
              <a:srgbClr val="245B99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10789920" y="93085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245B99"/>
                </a:solidFill>
                <a:latin typeface="Arial"/>
              </a:defRPr>
            </a:pPr>
            <a:r>
              <a:t>Sample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12252960" y="9528048"/>
            <a:ext cx="594360" cy="0"/>
          </a:xfrm>
          <a:prstGeom prst="line">
            <a:avLst/>
          </a:prstGeom>
          <a:ln w="12700">
            <a:solidFill>
              <a:srgbClr val="245B99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Freeform 147"/>
          <p:cNvSpPr/>
          <p:nvPr/>
        </p:nvSpPr>
        <p:spPr>
          <a:xfrm>
            <a:off x="14218920" y="9189720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0"/>
                </a:moveTo>
                <a:lnTo>
                  <a:pt x="777240" y="139903"/>
                </a:lnTo>
                <a:lnTo>
                  <a:pt x="777240" y="637337"/>
                </a:lnTo>
                <a:lnTo>
                  <a:pt x="0" y="777240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4255496" y="9217152"/>
            <a:ext cx="704088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20262D"/>
                </a:solidFill>
                <a:latin typeface="Arial"/>
              </a:defRPr>
            </a:pPr>
            <a:r>
              <a:t>MUX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13441680" y="9528048"/>
            <a:ext cx="777240" cy="0"/>
          </a:xfrm>
          <a:prstGeom prst="line">
            <a:avLst/>
          </a:prstGeom>
          <a:ln w="12700">
            <a:solidFill>
              <a:srgbClr val="245B99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0469880" y="8778240"/>
            <a:ext cx="0" cy="228600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0469880" y="9006840"/>
            <a:ext cx="4133088" cy="0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4602968" y="9006840"/>
            <a:ext cx="0" cy="182880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10972800" y="8778240"/>
            <a:ext cx="12801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0262D"/>
                </a:solidFill>
                <a:latin typeface="Arial"/>
              </a:defRPr>
            </a:pPr>
            <a:r>
              <a:t>Early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16706088" y="8778240"/>
            <a:ext cx="0" cy="228600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H="1">
            <a:off x="15224759" y="9006840"/>
            <a:ext cx="1481329" cy="0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5224759" y="9006840"/>
            <a:ext cx="0" cy="1143000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H="1">
            <a:off x="14602968" y="10149840"/>
            <a:ext cx="621791" cy="0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4602968" y="9966960"/>
            <a:ext cx="0" cy="182880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15590520" y="88056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0262D"/>
                </a:solidFill>
                <a:latin typeface="Arial"/>
              </a:defRPr>
            </a:pPr>
            <a:r>
              <a:t>Full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5681959" y="9326880"/>
            <a:ext cx="2057400" cy="594360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5718535" y="9354311"/>
            <a:ext cx="1984248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20262D"/>
                </a:solidFill>
                <a:latin typeface="Arial"/>
              </a:defRPr>
            </a:pPr>
            <a:r>
              <a:t>Result: 16-bit</a:t>
            </a:r>
          </a:p>
        </p:txBody>
      </p:sp>
      <p:cxnSp>
        <p:nvCxnSpPr>
          <p:cNvPr id="163" name="Connector 162"/>
          <p:cNvCxnSpPr/>
          <p:nvPr/>
        </p:nvCxnSpPr>
        <p:spPr>
          <a:xfrm flipV="1">
            <a:off x="15791688" y="9811512"/>
            <a:ext cx="100584" cy="109728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5892272" y="9811512"/>
            <a:ext cx="100583" cy="109728"/>
          </a:xfrm>
          <a:prstGeom prst="line">
            <a:avLst/>
          </a:prstGeom>
          <a:ln w="12700">
            <a:solidFill>
              <a:srgbClr val="20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4996159" y="9573768"/>
            <a:ext cx="685800" cy="0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ctangle 165"/>
          <p:cNvSpPr/>
          <p:nvPr/>
        </p:nvSpPr>
        <p:spPr>
          <a:xfrm>
            <a:off x="9464040" y="10287000"/>
            <a:ext cx="3291840" cy="502920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500615" y="10314432"/>
            <a:ext cx="3218688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20262D"/>
                </a:solidFill>
                <a:latin typeface="Arial"/>
              </a:defRPr>
            </a:pPr>
            <a:r>
              <a:t>LUT update / Fallback counters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13144500" y="9829800"/>
            <a:ext cx="0" cy="704088"/>
          </a:xfrm>
          <a:prstGeom prst="line">
            <a:avLst/>
          </a:prstGeom>
          <a:ln w="12700">
            <a:solidFill>
              <a:srgbClr val="245B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H="1">
            <a:off x="12755880" y="10533888"/>
            <a:ext cx="388620" cy="0"/>
          </a:xfrm>
          <a:prstGeom prst="line">
            <a:avLst/>
          </a:prstGeom>
          <a:ln w="12700">
            <a:solidFill>
              <a:srgbClr val="245B99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>
            <a:off x="9326880" y="10533888"/>
            <a:ext cx="137160" cy="0"/>
          </a:xfrm>
          <a:prstGeom prst="line">
            <a:avLst/>
          </a:prstGeom>
          <a:ln w="12700">
            <a:solidFill>
              <a:srgbClr val="245B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326880" y="6537960"/>
            <a:ext cx="0" cy="3995928"/>
          </a:xfrm>
          <a:prstGeom prst="line">
            <a:avLst/>
          </a:prstGeom>
          <a:ln w="12700">
            <a:solidFill>
              <a:srgbClr val="245B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9326880" y="6537960"/>
            <a:ext cx="137160" cy="0"/>
          </a:xfrm>
          <a:prstGeom prst="line">
            <a:avLst/>
          </a:prstGeom>
          <a:ln w="12700">
            <a:solidFill>
              <a:srgbClr val="245B99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13395960" y="104698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20262D"/>
                </a:solidFill>
                <a:latin typeface="Arial"/>
              </a:defRPr>
            </a:pPr>
            <a:r>
              <a:t>Mode: tanh / sigmoid / ReLU / linear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464040" y="109728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20262D"/>
                </a:solidFill>
                <a:latin typeface="Arial"/>
              </a:defRPr>
            </a:pPr>
            <a:r>
              <a:t>CORDIC PIPELINE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464040" y="11292840"/>
            <a:ext cx="1554480" cy="384048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9500615" y="11320272"/>
            <a:ext cx="14813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20262D"/>
                </a:solidFill>
                <a:latin typeface="Arial"/>
              </a:defRPr>
            </a:pPr>
            <a:r>
              <a:t>Range</a:t>
            </a:r>
          </a:p>
          <a:p>
            <a:pPr algn="ctr">
              <a:spcAft>
                <a:spcPts val="0"/>
              </a:spcAft>
              <a:defRPr sz="1100" b="0">
                <a:solidFill>
                  <a:srgbClr val="20262D"/>
                </a:solidFill>
                <a:latin typeface="Arial"/>
              </a:defRPr>
            </a:pPr>
            <a:r>
              <a:t>reduce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1292840" y="11292840"/>
            <a:ext cx="1874519" cy="384048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1329415" y="11320272"/>
            <a:ext cx="180136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20262D"/>
                </a:solidFill>
                <a:latin typeface="Arial"/>
              </a:defRPr>
            </a:pPr>
            <a:r>
              <a:t>16 shift-add</a:t>
            </a:r>
          </a:p>
          <a:p>
            <a:pPr algn="ctr">
              <a:spcAft>
                <a:spcPts val="0"/>
              </a:spcAft>
              <a:defRPr sz="1100" b="0">
                <a:solidFill>
                  <a:srgbClr val="20262D"/>
                </a:solidFill>
                <a:latin typeface="Arial"/>
              </a:defRPr>
            </a:pPr>
            <a:r>
              <a:t>stages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3441680" y="11292840"/>
            <a:ext cx="1325880" cy="384048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3478255" y="11320272"/>
            <a:ext cx="12527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20262D"/>
                </a:solidFill>
                <a:latin typeface="Arial"/>
              </a:defRPr>
            </a:pPr>
            <a:r>
              <a:t>y ÷ x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5041880" y="11292840"/>
            <a:ext cx="2697480" cy="384048"/>
          </a:xfrm>
          <a:prstGeom prst="rect">
            <a:avLst/>
          </a:prstGeom>
          <a:solidFill>
            <a:srgbClr val="FFFFFF"/>
          </a:solidFill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5078455" y="11320272"/>
            <a:ext cx="26243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20262D"/>
                </a:solidFill>
                <a:latin typeface="Arial"/>
              </a:defRPr>
            </a:pPr>
            <a:r>
              <a:t>3× reconstruction</a:t>
            </a:r>
          </a:p>
          <a:p>
            <a:pPr algn="ctr">
              <a:spcAft>
                <a:spcPts val="0"/>
              </a:spcAft>
              <a:defRPr sz="1100" b="0">
                <a:solidFill>
                  <a:srgbClr val="20262D"/>
                </a:solidFill>
                <a:latin typeface="Arial"/>
              </a:defRPr>
            </a:pPr>
            <a:r>
              <a:t>Mode / Saturation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11018520" y="11484864"/>
            <a:ext cx="274320" cy="0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13167360" y="11484864"/>
            <a:ext cx="274320" cy="0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14767559" y="11484864"/>
            <a:ext cx="274321" cy="0"/>
          </a:xfrm>
          <a:prstGeom prst="line">
            <a:avLst/>
          </a:prstGeom>
          <a:ln w="12700">
            <a:solidFill>
              <a:srgbClr val="202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365760" y="12070080"/>
            <a:ext cx="17556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20262D"/>
                </a:solidFill>
                <a:latin typeface="Arial"/>
              </a:defRPr>
            </a:pPr>
            <a:r>
              <a:t>Solid: data    Dashed blue: control    Register triangle: clock    ≥1: OR    &amp;: AND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65760" y="12600432"/>
            <a:ext cx="17556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20262D"/>
                </a:solidFill>
                <a:latin typeface="Arial"/>
              </a:defRPr>
            </a:pPr>
            <a:r>
              <a:t>Digital-core architecture • Physical I/O, pads and SCL180 memory mapping pending • clk / rst_n omitted for clarity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